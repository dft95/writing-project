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11th, 1997. New York City. Garry Kasparov, the greatest chess player who ever lived, resigns game six against an IBM machine called Deep Blue. The final score was three and a half to two and a half. It was the first time a reigning world champion ever lost a match to a computer.
That was almost thirty years ago.
This is DREAD. The client is The Naval Undersea Warfare Center, in Newport Rhode Island on behalf of the United States Navy. They want to know what happens when both players have an AI helping them lie to each other.
Naval Warfare is a game of hide and seek. You don't know where they are and neither they you. In June 1942, off the Midway Atoll, Imperial Japan Naval Admiral Chuichi Nagumo, the commander of the Kido Butai naval group, lost all four of his aircraft carriers to dive bombers because he did not realize in time that American naval carriers were indeed in the area.
The seas are unimaginably vast, and radar can only go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chess with a fog of war. You see your pieces. You see a few squares around them. Everything else is dark.
You know the enemy is out there. You don't know where. You don't know what they're planning. You move anyway.
That's not a game mechanic. That's every real engagement ever fought.
And the machines only got good at this recently. Go fell in 2016 — AlphaGo won against Lee Sedol, four games to one. Poker fell in 2017. Carnegie Mellon's Libratus took twenty days and about two million dollars off four professionals. Poker mattered because poker is played blind. You don't see their cards.
That's the frontier. Not perfect information. Hidden information. And that's where the Navy lives.
Wargaming is how we keep our enlisted and officers sharp against peer adversaries. Russia, China. Every wargame runs on incomplete information. DREAD is that problem, shrunk down to something we can actually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already a system called OMINOUS. It guesses the hidden board from past moves. It works.
Every milestone I just mentioned came from somebody finding a hole in the system before it. Deep Blue was brute force. AlphaZero threw out the opening books and taught itself chess from nothing in four hours. Each one found what the last one assumed, and broke it.
OMINOUS assumes what it knows about the opponent is true. It can't learn. And it has no idea what to do when the other guy has an AI too.
We will be inheriting the OMINOUS program, and make it able to learn from repeated games, and autonomously adjust its confidence on its opponent's strategy.
After we make OMINOUS able to learn, we make it able to lie.
We will be making a deception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components to this project.
The first is Inference. Reconstructing a board you cannot see. Watch your opponent across many games, learn their habits, and get sharper every time.
The second is the fun one - Deception. Don't just play well — play moves chosen specifically to poison the other AI's picture of the board. Make their prediction engine work against them. Use AI to break AI.
The third is Trust and encryption. This is for the cybersecurity major. Data at rest, in use, and in transit. If you leak the hidden state, your cover is blown and the whole game is broken.
The fourth is Presence. Networked multiplayer across separate machines. And a front end with a real look — dark, sharp, noir. This should feel like a weapon, not a homework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will be five to six of us. I'm the lead. I handle the client, the orchestration, and the paperwork so you don't have to.
That leaves the fun stuff to you. For each of the following functions and characteristics of DREAD, one member of the team will take one and go deep in it.
First, DREAD will provide a function called 'Adversarial search'. You pick moves that don't just win — they poison the other AI's picture of the board and make them guess wrong. This will be the most difficult - and most interesting part - of DREAD. This will lean heavily on algorithms and game theory. If you think you can handle it and if you think you have the skillset, this is for you.
Second, DREAD will also do Opponent modeling. It must learn their habits, get better at predicting them every game and make it explainable - not a black box. The skillset here is probability and the science of learning.
Third, DREAD will also need to be constructed to handle two machines playing the same game without either one knowing the other's hidden pieces. The skillsets here are networking and maintaining synchronicity through the active battle space.
Fourth, DREAD will also need both side's data secure. The pieces on the board must remain hidden. The Player data must be locked at rest, in motion, anywhere. Any state at any time. The skillsets here are cryptography, encryption, key management and secure protocols such as TLS.
And fifth, DREAD will be operated via a front end interface. One member of the team builds that interface. The Navy wants a dark, sharp, weapons-grade look. The skillsets here are UI design, real-time data visualization, designing a responsive interface under a strict latency constraint. And most importantly, making it all look like a weapon.
If you are not sure what you want and what you are best at, come talk to me after and we will compare what you have to offer versus what this program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honest part.
This is the hardest project we have. I picked it on purpose.
You will inherit code you didn't write, and you will have to understand it.
And this isn't a simple C program. This is a serious monster that will be used to train the finest naval officers, in charge of the largest navy in human history.
In the words of Colonel David Hackworth, there will be no fucking slack.
Every line gets reviewed. I sign off with that particular specialist.
This is not a "let the AI write it" project. Supervised coding only. You will understand what you ship.
If this sounds miserable, there are twelve other projects. Some of them may come close to DREAD.
If this sounds like the best thing you'll do this year, come see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other pitch today asks you to build a tool.
This one asks you to use an AI, to outthink an opponent who also has an AI.
I have the sheet here. Put your name down, tell me about yourself and your contact info, and I'll come find you.
Thanks.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320040" y="320040"/>
            <a:ext cx="320040" cy="0"/>
          </a:xfrm>
          <a:prstGeom prst="line">
            <a:avLst/>
          </a:prstGeom>
          <a:noFill/>
          <a:ln w="19050">
            <a:solidFill>
              <a:srgbClr val="A6192E"/>
            </a:solidFill>
            <a:prstDash val="solid"/>
          </a:ln>
        </p:spPr>
      </p:sp>
      <p:sp>
        <p:nvSpPr>
          <p:cNvPr id="3" name="Shape 1"/>
          <p:cNvSpPr/>
          <p:nvPr/>
        </p:nvSpPr>
        <p:spPr>
          <a:xfrm>
            <a:off x="320040" y="320040"/>
            <a:ext cx="0" cy="320040"/>
          </a:xfrm>
          <a:prstGeom prst="line">
            <a:avLst/>
          </a:prstGeom>
          <a:noFill/>
          <a:ln w="19050">
            <a:solidFill>
              <a:srgbClr val="A6192E"/>
            </a:solidFill>
            <a:prstDash val="solid"/>
          </a:ln>
        </p:spPr>
      </p:sp>
      <p:sp>
        <p:nvSpPr>
          <p:cNvPr id="4" name="Shape 2"/>
          <p:cNvSpPr/>
          <p:nvPr/>
        </p:nvSpPr>
        <p:spPr>
          <a:xfrm>
            <a:off x="11871655" y="320040"/>
            <a:ext cx="-320040" cy="0"/>
          </a:xfrm>
          <a:prstGeom prst="line">
            <a:avLst/>
          </a:prstGeom>
          <a:noFill/>
          <a:ln w="19050">
            <a:solidFill>
              <a:srgbClr val="A6192E"/>
            </a:solidFill>
            <a:prstDash val="solid"/>
          </a:ln>
        </p:spPr>
      </p:sp>
      <p:sp>
        <p:nvSpPr>
          <p:cNvPr id="5" name="Shape 3"/>
          <p:cNvSpPr/>
          <p:nvPr/>
        </p:nvSpPr>
        <p:spPr>
          <a:xfrm>
            <a:off x="11871655" y="320040"/>
            <a:ext cx="0" cy="320040"/>
          </a:xfrm>
          <a:prstGeom prst="line">
            <a:avLst/>
          </a:prstGeom>
          <a:noFill/>
          <a:ln w="19050">
            <a:solidFill>
              <a:srgbClr val="A6192E"/>
            </a:solidFill>
            <a:prstDash val="solid"/>
          </a:ln>
        </p:spPr>
      </p:sp>
      <p:sp>
        <p:nvSpPr>
          <p:cNvPr id="6" name="Shape 4"/>
          <p:cNvSpPr/>
          <p:nvPr/>
        </p:nvSpPr>
        <p:spPr>
          <a:xfrm>
            <a:off x="320040" y="6537960"/>
            <a:ext cx="320040" cy="0"/>
          </a:xfrm>
          <a:prstGeom prst="line">
            <a:avLst/>
          </a:prstGeom>
          <a:noFill/>
          <a:ln w="19050">
            <a:solidFill>
              <a:srgbClr val="A6192E"/>
            </a:solidFill>
            <a:prstDash val="solid"/>
          </a:ln>
        </p:spPr>
      </p:sp>
      <p:sp>
        <p:nvSpPr>
          <p:cNvPr id="7" name="Shape 5"/>
          <p:cNvSpPr/>
          <p:nvPr/>
        </p:nvSpPr>
        <p:spPr>
          <a:xfrm>
            <a:off x="320040" y="6537960"/>
            <a:ext cx="0" cy="-320040"/>
          </a:xfrm>
          <a:prstGeom prst="line">
            <a:avLst/>
          </a:prstGeom>
          <a:noFill/>
          <a:ln w="19050">
            <a:solidFill>
              <a:srgbClr val="A6192E"/>
            </a:solidFill>
            <a:prstDash val="solid"/>
          </a:ln>
        </p:spPr>
      </p:sp>
      <p:sp>
        <p:nvSpPr>
          <p:cNvPr id="8" name="Shape 6"/>
          <p:cNvSpPr/>
          <p:nvPr/>
        </p:nvSpPr>
        <p:spPr>
          <a:xfrm>
            <a:off x="11871655" y="6537960"/>
            <a:ext cx="-320040" cy="0"/>
          </a:xfrm>
          <a:prstGeom prst="line">
            <a:avLst/>
          </a:prstGeom>
          <a:noFill/>
          <a:ln w="19050">
            <a:solidFill>
              <a:srgbClr val="A6192E"/>
            </a:solidFill>
            <a:prstDash val="solid"/>
          </a:ln>
        </p:spPr>
      </p:sp>
      <p:sp>
        <p:nvSpPr>
          <p:cNvPr id="9" name="Shape 7"/>
          <p:cNvSpPr/>
          <p:nvPr/>
        </p:nvSpPr>
        <p:spPr>
          <a:xfrm>
            <a:off x="11871655" y="6537960"/>
            <a:ext cx="0" cy="-320040"/>
          </a:xfrm>
          <a:prstGeom prst="line">
            <a:avLst/>
          </a:prstGeom>
          <a:noFill/>
          <a:ln w="19050">
            <a:solidFill>
              <a:srgbClr val="A6192E"/>
            </a:solidFill>
            <a:prstDash val="solid"/>
          </a:ln>
        </p:spPr>
      </p:sp>
      <p:pic>
        <p:nvPicPr>
          <p:cNvPr id="10" name="Image 0" descr="preencoded.png">    </p:cNvPr>
          <p:cNvPicPr>
            <a:picLocks noChangeAspect="1"/>
          </p:cNvPicPr>
          <p:nvPr/>
        </p:nvPicPr>
        <p:blipFill>
          <a:blip r:embed="rId1"/>
          <a:stretch>
            <a:fillRect/>
          </a:stretch>
        </p:blipFill>
        <p:spPr>
          <a:xfrm>
            <a:off x="5592928" y="1051560"/>
            <a:ext cx="1005840" cy="1005840"/>
          </a:xfrm>
          <a:prstGeom prst="rect">
            <a:avLst/>
          </a:prstGeom>
        </p:spPr>
      </p:pic>
      <p:sp>
        <p:nvSpPr>
          <p:cNvPr id="11" name="Text 8"/>
          <p:cNvSpPr txBox="1"/>
          <p:nvPr/>
        </p:nvSpPr>
        <p:spPr>
          <a:xfrm>
            <a:off x="0" y="2331720"/>
            <a:ext cx="12191695" cy="1737360"/>
          </a:xfrm>
          <a:prstGeom prst="rect">
            <a:avLst/>
          </a:prstGeom>
          <a:noFill/>
          <a:ln/>
        </p:spPr>
        <p:txBody>
          <a:bodyPr wrap="square" lIns="0" tIns="0" rIns="0" bIns="0" rtlCol="0" anchor="ctr"/>
          <a:lstStyle/>
          <a:p>
            <a:pPr algn="ctr" indent="0" marL="0">
              <a:buNone/>
            </a:pPr>
            <a:r>
              <a:rPr lang="en-US" sz="11000" b="1" spc="600" kern="0" dirty="0">
                <a:solidFill>
                  <a:srgbClr val="EDEDED"/>
                </a:solidFill>
                <a:latin typeface="Arial Black" pitchFamily="34" charset="0"/>
                <a:ea typeface="Arial Black" pitchFamily="34" charset="-122"/>
                <a:cs typeface="Arial Black" pitchFamily="34" charset="-120"/>
              </a:rPr>
              <a:t>DREAD</a:t>
            </a:r>
            <a:endParaRPr lang="en-US" sz="11000" dirty="0"/>
          </a:p>
        </p:txBody>
      </p:sp>
      <p:sp>
        <p:nvSpPr>
          <p:cNvPr id="12" name="Text 9"/>
          <p:cNvSpPr txBox="1"/>
          <p:nvPr/>
        </p:nvSpPr>
        <p:spPr>
          <a:xfrm>
            <a:off x="0" y="4160520"/>
            <a:ext cx="12191695" cy="457200"/>
          </a:xfrm>
          <a:prstGeom prst="rect">
            <a:avLst/>
          </a:prstGeom>
          <a:noFill/>
          <a:ln/>
        </p:spPr>
        <p:txBody>
          <a:bodyPr wrap="square" lIns="0" tIns="0" rIns="0" bIns="0" rtlCol="0" anchor="ctr"/>
          <a:lstStyle/>
          <a:p>
            <a:pPr algn="ctr" indent="0" marL="0">
              <a:buNone/>
            </a:pPr>
            <a:r>
              <a:rPr lang="en-US" sz="1400" b="1" spc="300" kern="0" dirty="0">
                <a:solidFill>
                  <a:srgbClr val="A6192E"/>
                </a:solidFill>
                <a:latin typeface="Calibri" pitchFamily="34" charset="0"/>
                <a:ea typeface="Calibri" pitchFamily="34" charset="-122"/>
                <a:cs typeface="Calibri" pitchFamily="34" charset="-120"/>
              </a:rPr>
              <a:t>NAVAL UNDERSEA WARFARE CENTER  •  NEWPORT, RI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320040" y="320040"/>
            <a:ext cx="320040" cy="0"/>
          </a:xfrm>
          <a:prstGeom prst="line">
            <a:avLst/>
          </a:prstGeom>
          <a:noFill/>
          <a:ln w="19050">
            <a:solidFill>
              <a:srgbClr val="A6192E"/>
            </a:solidFill>
            <a:prstDash val="solid"/>
          </a:ln>
        </p:spPr>
      </p:sp>
      <p:sp>
        <p:nvSpPr>
          <p:cNvPr id="3" name="Shape 1"/>
          <p:cNvSpPr/>
          <p:nvPr/>
        </p:nvSpPr>
        <p:spPr>
          <a:xfrm>
            <a:off x="320040" y="320040"/>
            <a:ext cx="0" cy="320040"/>
          </a:xfrm>
          <a:prstGeom prst="line">
            <a:avLst/>
          </a:prstGeom>
          <a:noFill/>
          <a:ln w="19050">
            <a:solidFill>
              <a:srgbClr val="A6192E"/>
            </a:solidFill>
            <a:prstDash val="solid"/>
          </a:ln>
        </p:spPr>
      </p:sp>
      <p:sp>
        <p:nvSpPr>
          <p:cNvPr id="4" name="Shape 2"/>
          <p:cNvSpPr/>
          <p:nvPr/>
        </p:nvSpPr>
        <p:spPr>
          <a:xfrm>
            <a:off x="11871655" y="320040"/>
            <a:ext cx="-320040" cy="0"/>
          </a:xfrm>
          <a:prstGeom prst="line">
            <a:avLst/>
          </a:prstGeom>
          <a:noFill/>
          <a:ln w="19050">
            <a:solidFill>
              <a:srgbClr val="A6192E"/>
            </a:solidFill>
            <a:prstDash val="solid"/>
          </a:ln>
        </p:spPr>
      </p:sp>
      <p:sp>
        <p:nvSpPr>
          <p:cNvPr id="5" name="Shape 3"/>
          <p:cNvSpPr/>
          <p:nvPr/>
        </p:nvSpPr>
        <p:spPr>
          <a:xfrm>
            <a:off x="11871655" y="320040"/>
            <a:ext cx="0" cy="320040"/>
          </a:xfrm>
          <a:prstGeom prst="line">
            <a:avLst/>
          </a:prstGeom>
          <a:noFill/>
          <a:ln w="19050">
            <a:solidFill>
              <a:srgbClr val="A6192E"/>
            </a:solidFill>
            <a:prstDash val="solid"/>
          </a:ln>
        </p:spPr>
      </p:sp>
      <p:sp>
        <p:nvSpPr>
          <p:cNvPr id="6" name="Shape 4"/>
          <p:cNvSpPr/>
          <p:nvPr/>
        </p:nvSpPr>
        <p:spPr>
          <a:xfrm>
            <a:off x="320040" y="6537960"/>
            <a:ext cx="320040" cy="0"/>
          </a:xfrm>
          <a:prstGeom prst="line">
            <a:avLst/>
          </a:prstGeom>
          <a:noFill/>
          <a:ln w="19050">
            <a:solidFill>
              <a:srgbClr val="A6192E"/>
            </a:solidFill>
            <a:prstDash val="solid"/>
          </a:ln>
        </p:spPr>
      </p:sp>
      <p:sp>
        <p:nvSpPr>
          <p:cNvPr id="7" name="Shape 5"/>
          <p:cNvSpPr/>
          <p:nvPr/>
        </p:nvSpPr>
        <p:spPr>
          <a:xfrm>
            <a:off x="320040" y="6537960"/>
            <a:ext cx="0" cy="-320040"/>
          </a:xfrm>
          <a:prstGeom prst="line">
            <a:avLst/>
          </a:prstGeom>
          <a:noFill/>
          <a:ln w="19050">
            <a:solidFill>
              <a:srgbClr val="A6192E"/>
            </a:solidFill>
            <a:prstDash val="solid"/>
          </a:ln>
        </p:spPr>
      </p:sp>
      <p:sp>
        <p:nvSpPr>
          <p:cNvPr id="8" name="Shape 6"/>
          <p:cNvSpPr/>
          <p:nvPr/>
        </p:nvSpPr>
        <p:spPr>
          <a:xfrm>
            <a:off x="11871655" y="6537960"/>
            <a:ext cx="-320040" cy="0"/>
          </a:xfrm>
          <a:prstGeom prst="line">
            <a:avLst/>
          </a:prstGeom>
          <a:noFill/>
          <a:ln w="19050">
            <a:solidFill>
              <a:srgbClr val="A6192E"/>
            </a:solidFill>
            <a:prstDash val="solid"/>
          </a:ln>
        </p:spPr>
      </p:sp>
      <p:sp>
        <p:nvSpPr>
          <p:cNvPr id="9" name="Shape 7"/>
          <p:cNvSpPr/>
          <p:nvPr/>
        </p:nvSpPr>
        <p:spPr>
          <a:xfrm>
            <a:off x="11871655" y="6537960"/>
            <a:ext cx="0" cy="-320040"/>
          </a:xfrm>
          <a:prstGeom prst="line">
            <a:avLst/>
          </a:prstGeom>
          <a:noFill/>
          <a:ln w="19050">
            <a:solidFill>
              <a:srgbClr val="A6192E"/>
            </a:solidFill>
            <a:prstDash val="solid"/>
          </a:ln>
        </p:spPr>
      </p:sp>
      <p:pic>
        <p:nvPicPr>
          <p:cNvPr id="10" name="Image 0" descr="preencoded.png">    </p:cNvPr>
          <p:cNvPicPr>
            <a:picLocks noChangeAspect="1"/>
          </p:cNvPicPr>
          <p:nvPr/>
        </p:nvPicPr>
        <p:blipFill>
          <a:blip r:embed="rId1">
            <a:alphaModFix amt="75000"/>
          </a:blip>
          <a:stretch>
            <a:fillRect/>
          </a:stretch>
        </p:blipFill>
        <p:spPr>
          <a:xfrm>
            <a:off x="7040880" y="1463040"/>
            <a:ext cx="3931920" cy="3931920"/>
          </a:xfrm>
          <a:prstGeom prst="rect">
            <a:avLst/>
          </a:prstGeom>
        </p:spPr>
      </p:pic>
      <p:sp>
        <p:nvSpPr>
          <p:cNvPr id="11" name="Text 8"/>
          <p:cNvSpPr txBox="1"/>
          <p:nvPr/>
        </p:nvSpPr>
        <p:spPr>
          <a:xfrm>
            <a:off x="822960" y="2011680"/>
            <a:ext cx="6583680" cy="2743200"/>
          </a:xfrm>
          <a:prstGeom prst="rect">
            <a:avLst/>
          </a:prstGeom>
          <a:noFill/>
          <a:ln/>
        </p:spPr>
        <p:txBody>
          <a:bodyPr wrap="square" lIns="0" tIns="0" rIns="0" bIns="0" rtlCol="0" anchor="ctr"/>
          <a:lstStyle/>
          <a:p>
            <a:pPr algn="l" indent="0" marL="0">
              <a:lnSpc>
                <a:spcPct val="100000"/>
              </a:lnSpc>
              <a:buNone/>
            </a:pPr>
            <a:r>
              <a:rPr lang="en-US" sz="8000" b="1" dirty="0">
                <a:solidFill>
                  <a:srgbClr val="EDEDED"/>
                </a:solidFill>
                <a:latin typeface="Arial Black" pitchFamily="34" charset="0"/>
                <a:ea typeface="Arial Black" pitchFamily="34" charset="-122"/>
                <a:cs typeface="Arial Black" pitchFamily="34" charset="-120"/>
              </a:rPr>
              <a:t>Fog of</a:t>
            </a:r>
            <a:endParaRPr lang="en-US" sz="8000" dirty="0"/>
          </a:p>
          <a:p>
            <a:pPr algn="l" indent="0" marL="0">
              <a:lnSpc>
                <a:spcPct val="100000"/>
              </a:lnSpc>
              <a:buNone/>
            </a:pPr>
            <a:r>
              <a:rPr lang="en-US" sz="8000" b="1" dirty="0">
                <a:solidFill>
                  <a:srgbClr val="EDEDED"/>
                </a:solidFill>
                <a:latin typeface="Arial Black" pitchFamily="34" charset="0"/>
                <a:ea typeface="Arial Black" pitchFamily="34" charset="-122"/>
                <a:cs typeface="Arial Black" pitchFamily="34" charset="-120"/>
              </a:rPr>
              <a:t>war.</a:t>
            </a:r>
            <a:endParaRPr lang="en-US" sz="8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320040" y="320040"/>
            <a:ext cx="320040" cy="0"/>
          </a:xfrm>
          <a:prstGeom prst="line">
            <a:avLst/>
          </a:prstGeom>
          <a:noFill/>
          <a:ln w="19050">
            <a:solidFill>
              <a:srgbClr val="A6192E"/>
            </a:solidFill>
            <a:prstDash val="solid"/>
          </a:ln>
        </p:spPr>
      </p:sp>
      <p:sp>
        <p:nvSpPr>
          <p:cNvPr id="3" name="Shape 1"/>
          <p:cNvSpPr/>
          <p:nvPr/>
        </p:nvSpPr>
        <p:spPr>
          <a:xfrm>
            <a:off x="320040" y="320040"/>
            <a:ext cx="0" cy="320040"/>
          </a:xfrm>
          <a:prstGeom prst="line">
            <a:avLst/>
          </a:prstGeom>
          <a:noFill/>
          <a:ln w="19050">
            <a:solidFill>
              <a:srgbClr val="A6192E"/>
            </a:solidFill>
            <a:prstDash val="solid"/>
          </a:ln>
        </p:spPr>
      </p:sp>
      <p:sp>
        <p:nvSpPr>
          <p:cNvPr id="4" name="Shape 2"/>
          <p:cNvSpPr/>
          <p:nvPr/>
        </p:nvSpPr>
        <p:spPr>
          <a:xfrm>
            <a:off x="11871655" y="320040"/>
            <a:ext cx="-320040" cy="0"/>
          </a:xfrm>
          <a:prstGeom prst="line">
            <a:avLst/>
          </a:prstGeom>
          <a:noFill/>
          <a:ln w="19050">
            <a:solidFill>
              <a:srgbClr val="A6192E"/>
            </a:solidFill>
            <a:prstDash val="solid"/>
          </a:ln>
        </p:spPr>
      </p:sp>
      <p:sp>
        <p:nvSpPr>
          <p:cNvPr id="5" name="Shape 3"/>
          <p:cNvSpPr/>
          <p:nvPr/>
        </p:nvSpPr>
        <p:spPr>
          <a:xfrm>
            <a:off x="11871655" y="320040"/>
            <a:ext cx="0" cy="320040"/>
          </a:xfrm>
          <a:prstGeom prst="line">
            <a:avLst/>
          </a:prstGeom>
          <a:noFill/>
          <a:ln w="19050">
            <a:solidFill>
              <a:srgbClr val="A6192E"/>
            </a:solidFill>
            <a:prstDash val="solid"/>
          </a:ln>
        </p:spPr>
      </p:sp>
      <p:sp>
        <p:nvSpPr>
          <p:cNvPr id="6" name="Shape 4"/>
          <p:cNvSpPr/>
          <p:nvPr/>
        </p:nvSpPr>
        <p:spPr>
          <a:xfrm>
            <a:off x="320040" y="6537960"/>
            <a:ext cx="320040" cy="0"/>
          </a:xfrm>
          <a:prstGeom prst="line">
            <a:avLst/>
          </a:prstGeom>
          <a:noFill/>
          <a:ln w="19050">
            <a:solidFill>
              <a:srgbClr val="A6192E"/>
            </a:solidFill>
            <a:prstDash val="solid"/>
          </a:ln>
        </p:spPr>
      </p:sp>
      <p:sp>
        <p:nvSpPr>
          <p:cNvPr id="7" name="Shape 5"/>
          <p:cNvSpPr/>
          <p:nvPr/>
        </p:nvSpPr>
        <p:spPr>
          <a:xfrm>
            <a:off x="320040" y="6537960"/>
            <a:ext cx="0" cy="-320040"/>
          </a:xfrm>
          <a:prstGeom prst="line">
            <a:avLst/>
          </a:prstGeom>
          <a:noFill/>
          <a:ln w="19050">
            <a:solidFill>
              <a:srgbClr val="A6192E"/>
            </a:solidFill>
            <a:prstDash val="solid"/>
          </a:ln>
        </p:spPr>
      </p:sp>
      <p:sp>
        <p:nvSpPr>
          <p:cNvPr id="8" name="Shape 6"/>
          <p:cNvSpPr/>
          <p:nvPr/>
        </p:nvSpPr>
        <p:spPr>
          <a:xfrm>
            <a:off x="11871655" y="6537960"/>
            <a:ext cx="-320040" cy="0"/>
          </a:xfrm>
          <a:prstGeom prst="line">
            <a:avLst/>
          </a:prstGeom>
          <a:noFill/>
          <a:ln w="19050">
            <a:solidFill>
              <a:srgbClr val="A6192E"/>
            </a:solidFill>
            <a:prstDash val="solid"/>
          </a:ln>
        </p:spPr>
      </p:sp>
      <p:sp>
        <p:nvSpPr>
          <p:cNvPr id="9" name="Shape 7"/>
          <p:cNvSpPr/>
          <p:nvPr/>
        </p:nvSpPr>
        <p:spPr>
          <a:xfrm>
            <a:off x="11871655" y="6537960"/>
            <a:ext cx="0" cy="-320040"/>
          </a:xfrm>
          <a:prstGeom prst="line">
            <a:avLst/>
          </a:prstGeom>
          <a:noFill/>
          <a:ln w="19050">
            <a:solidFill>
              <a:srgbClr val="A6192E"/>
            </a:solidFill>
            <a:prstDash val="solid"/>
          </a:ln>
        </p:spPr>
      </p:sp>
      <p:pic>
        <p:nvPicPr>
          <p:cNvPr id="10" name="Image 0" descr="preencoded.png">    </p:cNvPr>
          <p:cNvPicPr>
            <a:picLocks noChangeAspect="1"/>
          </p:cNvPicPr>
          <p:nvPr/>
        </p:nvPicPr>
        <p:blipFill>
          <a:blip r:embed="rId1"/>
          <a:stretch>
            <a:fillRect/>
          </a:stretch>
        </p:blipFill>
        <p:spPr>
          <a:xfrm>
            <a:off x="5638648" y="822960"/>
            <a:ext cx="914400" cy="914400"/>
          </a:xfrm>
          <a:prstGeom prst="rect">
            <a:avLst/>
          </a:prstGeom>
        </p:spPr>
      </p:pic>
      <p:sp>
        <p:nvSpPr>
          <p:cNvPr id="11" name="Text 8"/>
          <p:cNvSpPr txBox="1"/>
          <p:nvPr/>
        </p:nvSpPr>
        <p:spPr>
          <a:xfrm>
            <a:off x="731520" y="2286000"/>
            <a:ext cx="10728655" cy="2103120"/>
          </a:xfrm>
          <a:prstGeom prst="rect">
            <a:avLst/>
          </a:prstGeom>
          <a:noFill/>
          <a:ln/>
        </p:spPr>
        <p:txBody>
          <a:bodyPr wrap="square" lIns="0" tIns="0" rIns="0" bIns="0" rtlCol="0" anchor="ctr"/>
          <a:lstStyle/>
          <a:p>
            <a:pPr algn="ctr" indent="0" marL="0">
              <a:lnSpc>
                <a:spcPct val="115000"/>
              </a:lnSpc>
              <a:buNone/>
            </a:pPr>
            <a:r>
              <a:rPr lang="en-US" sz="5200" dirty="0">
                <a:solidFill>
                  <a:srgbClr val="8A8A8A"/>
                </a:solidFill>
                <a:latin typeface="Arial Black" pitchFamily="34" charset="0"/>
                <a:ea typeface="Arial Black" pitchFamily="34" charset="-122"/>
                <a:cs typeface="Arial Black" pitchFamily="34" charset="-120"/>
              </a:rPr>
              <a:t>OMINOUS learns nothing.
</a:t>
            </a:r>
            <a:pPr algn="ctr" indent="0" marL="0">
              <a:lnSpc>
                <a:spcPct val="115000"/>
              </a:lnSpc>
              <a:buNone/>
            </a:pPr>
            <a:r>
              <a:rPr lang="en-US" sz="5200" b="1" dirty="0">
                <a:solidFill>
                  <a:srgbClr val="EDEDED"/>
                </a:solidFill>
                <a:latin typeface="Arial Black" pitchFamily="34" charset="0"/>
                <a:ea typeface="Arial Black" pitchFamily="34" charset="-122"/>
                <a:cs typeface="Arial Black" pitchFamily="34" charset="-120"/>
              </a:rPr>
              <a:t>We fix that.</a:t>
            </a:r>
            <a:endParaRPr lang="en-US" sz="5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320040" y="320040"/>
            <a:ext cx="320040" cy="0"/>
          </a:xfrm>
          <a:prstGeom prst="line">
            <a:avLst/>
          </a:prstGeom>
          <a:noFill/>
          <a:ln w="19050">
            <a:solidFill>
              <a:srgbClr val="A6192E"/>
            </a:solidFill>
            <a:prstDash val="solid"/>
          </a:ln>
        </p:spPr>
      </p:sp>
      <p:sp>
        <p:nvSpPr>
          <p:cNvPr id="3" name="Shape 1"/>
          <p:cNvSpPr/>
          <p:nvPr/>
        </p:nvSpPr>
        <p:spPr>
          <a:xfrm>
            <a:off x="320040" y="320040"/>
            <a:ext cx="0" cy="320040"/>
          </a:xfrm>
          <a:prstGeom prst="line">
            <a:avLst/>
          </a:prstGeom>
          <a:noFill/>
          <a:ln w="19050">
            <a:solidFill>
              <a:srgbClr val="A6192E"/>
            </a:solidFill>
            <a:prstDash val="solid"/>
          </a:ln>
        </p:spPr>
      </p:sp>
      <p:sp>
        <p:nvSpPr>
          <p:cNvPr id="4" name="Shape 2"/>
          <p:cNvSpPr/>
          <p:nvPr/>
        </p:nvSpPr>
        <p:spPr>
          <a:xfrm>
            <a:off x="11871655" y="320040"/>
            <a:ext cx="-320040" cy="0"/>
          </a:xfrm>
          <a:prstGeom prst="line">
            <a:avLst/>
          </a:prstGeom>
          <a:noFill/>
          <a:ln w="19050">
            <a:solidFill>
              <a:srgbClr val="A6192E"/>
            </a:solidFill>
            <a:prstDash val="solid"/>
          </a:ln>
        </p:spPr>
      </p:sp>
      <p:sp>
        <p:nvSpPr>
          <p:cNvPr id="5" name="Shape 3"/>
          <p:cNvSpPr/>
          <p:nvPr/>
        </p:nvSpPr>
        <p:spPr>
          <a:xfrm>
            <a:off x="11871655" y="320040"/>
            <a:ext cx="0" cy="320040"/>
          </a:xfrm>
          <a:prstGeom prst="line">
            <a:avLst/>
          </a:prstGeom>
          <a:noFill/>
          <a:ln w="19050">
            <a:solidFill>
              <a:srgbClr val="A6192E"/>
            </a:solidFill>
            <a:prstDash val="solid"/>
          </a:ln>
        </p:spPr>
      </p:sp>
      <p:sp>
        <p:nvSpPr>
          <p:cNvPr id="6" name="Shape 4"/>
          <p:cNvSpPr/>
          <p:nvPr/>
        </p:nvSpPr>
        <p:spPr>
          <a:xfrm>
            <a:off x="320040" y="6537960"/>
            <a:ext cx="320040" cy="0"/>
          </a:xfrm>
          <a:prstGeom prst="line">
            <a:avLst/>
          </a:prstGeom>
          <a:noFill/>
          <a:ln w="19050">
            <a:solidFill>
              <a:srgbClr val="A6192E"/>
            </a:solidFill>
            <a:prstDash val="solid"/>
          </a:ln>
        </p:spPr>
      </p:sp>
      <p:sp>
        <p:nvSpPr>
          <p:cNvPr id="7" name="Shape 5"/>
          <p:cNvSpPr/>
          <p:nvPr/>
        </p:nvSpPr>
        <p:spPr>
          <a:xfrm>
            <a:off x="320040" y="6537960"/>
            <a:ext cx="0" cy="-320040"/>
          </a:xfrm>
          <a:prstGeom prst="line">
            <a:avLst/>
          </a:prstGeom>
          <a:noFill/>
          <a:ln w="19050">
            <a:solidFill>
              <a:srgbClr val="A6192E"/>
            </a:solidFill>
            <a:prstDash val="solid"/>
          </a:ln>
        </p:spPr>
      </p:sp>
      <p:sp>
        <p:nvSpPr>
          <p:cNvPr id="8" name="Shape 6"/>
          <p:cNvSpPr/>
          <p:nvPr/>
        </p:nvSpPr>
        <p:spPr>
          <a:xfrm>
            <a:off x="11871655" y="6537960"/>
            <a:ext cx="-320040" cy="0"/>
          </a:xfrm>
          <a:prstGeom prst="line">
            <a:avLst/>
          </a:prstGeom>
          <a:noFill/>
          <a:ln w="19050">
            <a:solidFill>
              <a:srgbClr val="A6192E"/>
            </a:solidFill>
            <a:prstDash val="solid"/>
          </a:ln>
        </p:spPr>
      </p:sp>
      <p:sp>
        <p:nvSpPr>
          <p:cNvPr id="9" name="Shape 7"/>
          <p:cNvSpPr/>
          <p:nvPr/>
        </p:nvSpPr>
        <p:spPr>
          <a:xfrm>
            <a:off x="11871655" y="6537960"/>
            <a:ext cx="0" cy="-320040"/>
          </a:xfrm>
          <a:prstGeom prst="line">
            <a:avLst/>
          </a:prstGeom>
          <a:noFill/>
          <a:ln w="19050">
            <a:solidFill>
              <a:srgbClr val="A6192E"/>
            </a:solidFill>
            <a:prstDash val="solid"/>
          </a:ln>
        </p:spPr>
      </p:sp>
      <p:sp>
        <p:nvSpPr>
          <p:cNvPr id="10" name="Shape 8"/>
          <p:cNvSpPr/>
          <p:nvPr/>
        </p:nvSpPr>
        <p:spPr>
          <a:xfrm>
            <a:off x="1478242" y="1965960"/>
            <a:ext cx="1188720" cy="1188720"/>
          </a:xfrm>
          <a:prstGeom prst="ellipse">
            <a:avLst/>
          </a:prstGeom>
          <a:solidFill>
            <a:srgbClr val="151515"/>
          </a:solidFill>
          <a:ln w="19050">
            <a:solidFill>
              <a:srgbClr val="A6192E"/>
            </a:solidFill>
            <a:prstDash val="solid"/>
          </a:ln>
        </p:spPr>
      </p:sp>
      <p:pic>
        <p:nvPicPr>
          <p:cNvPr id="11" name="Image 0" descr="preencoded.png">    </p:cNvPr>
          <p:cNvPicPr>
            <a:picLocks noChangeAspect="1"/>
          </p:cNvPicPr>
          <p:nvPr/>
        </p:nvPicPr>
        <p:blipFill>
          <a:blip r:embed="rId1"/>
          <a:stretch>
            <a:fillRect/>
          </a:stretch>
        </p:blipFill>
        <p:spPr>
          <a:xfrm>
            <a:off x="1706842" y="2194560"/>
            <a:ext cx="731520" cy="731520"/>
          </a:xfrm>
          <a:prstGeom prst="rect">
            <a:avLst/>
          </a:prstGeom>
        </p:spPr>
      </p:pic>
      <p:sp>
        <p:nvSpPr>
          <p:cNvPr id="12" name="Text 9"/>
          <p:cNvSpPr txBox="1"/>
          <p:nvPr/>
        </p:nvSpPr>
        <p:spPr>
          <a:xfrm>
            <a:off x="731520" y="3383280"/>
            <a:ext cx="2682164" cy="731520"/>
          </a:xfrm>
          <a:prstGeom prst="rect">
            <a:avLst/>
          </a:prstGeom>
          <a:noFill/>
          <a:ln/>
        </p:spPr>
        <p:txBody>
          <a:bodyPr wrap="square" lIns="0" tIns="0" rIns="0" bIns="0" rtlCol="0" anchor="ctr"/>
          <a:lstStyle/>
          <a:p>
            <a:pPr algn="ctr" indent="0" marL="0">
              <a:buNone/>
            </a:pPr>
            <a:r>
              <a:rPr lang="en-US" sz="2200" b="1" dirty="0">
                <a:solidFill>
                  <a:srgbClr val="EDEDED"/>
                </a:solidFill>
                <a:latin typeface="Arial Black" pitchFamily="34" charset="0"/>
                <a:ea typeface="Arial Black" pitchFamily="34" charset="-122"/>
                <a:cs typeface="Arial Black" pitchFamily="34" charset="-120"/>
              </a:rPr>
              <a:t>Inference.</a:t>
            </a:r>
            <a:endParaRPr lang="en-US" sz="2200" dirty="0"/>
          </a:p>
        </p:txBody>
      </p:sp>
      <p:sp>
        <p:nvSpPr>
          <p:cNvPr id="13" name="Shape 10"/>
          <p:cNvSpPr/>
          <p:nvPr/>
        </p:nvSpPr>
        <p:spPr>
          <a:xfrm>
            <a:off x="4160406" y="1965960"/>
            <a:ext cx="1188720" cy="1188720"/>
          </a:xfrm>
          <a:prstGeom prst="ellipse">
            <a:avLst/>
          </a:prstGeom>
          <a:solidFill>
            <a:srgbClr val="151515"/>
          </a:solidFill>
          <a:ln w="19050">
            <a:solidFill>
              <a:srgbClr val="A6192E"/>
            </a:solidFill>
            <a:prstDash val="solid"/>
          </a:ln>
        </p:spPr>
      </p:sp>
      <p:pic>
        <p:nvPicPr>
          <p:cNvPr id="14" name="Image 1" descr="preencoded.png">    </p:cNvPr>
          <p:cNvPicPr>
            <a:picLocks noChangeAspect="1"/>
          </p:cNvPicPr>
          <p:nvPr/>
        </p:nvPicPr>
        <p:blipFill>
          <a:blip r:embed="rId2"/>
          <a:stretch>
            <a:fillRect/>
          </a:stretch>
        </p:blipFill>
        <p:spPr>
          <a:xfrm>
            <a:off x="4389006" y="2194560"/>
            <a:ext cx="731520" cy="731520"/>
          </a:xfrm>
          <a:prstGeom prst="rect">
            <a:avLst/>
          </a:prstGeom>
        </p:spPr>
      </p:pic>
      <p:sp>
        <p:nvSpPr>
          <p:cNvPr id="15" name="Text 11"/>
          <p:cNvSpPr txBox="1"/>
          <p:nvPr/>
        </p:nvSpPr>
        <p:spPr>
          <a:xfrm>
            <a:off x="3413684" y="3383280"/>
            <a:ext cx="2682164" cy="731520"/>
          </a:xfrm>
          <a:prstGeom prst="rect">
            <a:avLst/>
          </a:prstGeom>
          <a:noFill/>
          <a:ln/>
        </p:spPr>
        <p:txBody>
          <a:bodyPr wrap="square" lIns="0" tIns="0" rIns="0" bIns="0" rtlCol="0" anchor="ctr"/>
          <a:lstStyle/>
          <a:p>
            <a:pPr algn="ctr" indent="0" marL="0">
              <a:buNone/>
            </a:pPr>
            <a:r>
              <a:rPr lang="en-US" sz="2200" b="1" dirty="0">
                <a:solidFill>
                  <a:srgbClr val="EDEDED"/>
                </a:solidFill>
                <a:latin typeface="Arial Black" pitchFamily="34" charset="0"/>
                <a:ea typeface="Arial Black" pitchFamily="34" charset="-122"/>
                <a:cs typeface="Arial Black" pitchFamily="34" charset="-120"/>
              </a:rPr>
              <a:t>Deception.</a:t>
            </a:r>
            <a:endParaRPr lang="en-US" sz="2200" dirty="0"/>
          </a:p>
        </p:txBody>
      </p:sp>
      <p:sp>
        <p:nvSpPr>
          <p:cNvPr id="16" name="Shape 12"/>
          <p:cNvSpPr/>
          <p:nvPr/>
        </p:nvSpPr>
        <p:spPr>
          <a:xfrm>
            <a:off x="6842569" y="1965960"/>
            <a:ext cx="1188720" cy="1188720"/>
          </a:xfrm>
          <a:prstGeom prst="ellipse">
            <a:avLst/>
          </a:prstGeom>
          <a:solidFill>
            <a:srgbClr val="151515"/>
          </a:solidFill>
          <a:ln w="19050">
            <a:solidFill>
              <a:srgbClr val="A6192E"/>
            </a:solidFill>
            <a:prstDash val="solid"/>
          </a:ln>
        </p:spPr>
      </p:sp>
      <p:pic>
        <p:nvPicPr>
          <p:cNvPr id="17" name="Image 2" descr="preencoded.png">    </p:cNvPr>
          <p:cNvPicPr>
            <a:picLocks noChangeAspect="1"/>
          </p:cNvPicPr>
          <p:nvPr/>
        </p:nvPicPr>
        <p:blipFill>
          <a:blip r:embed="rId3"/>
          <a:stretch>
            <a:fillRect/>
          </a:stretch>
        </p:blipFill>
        <p:spPr>
          <a:xfrm>
            <a:off x="7071169" y="2194560"/>
            <a:ext cx="731520" cy="731520"/>
          </a:xfrm>
          <a:prstGeom prst="rect">
            <a:avLst/>
          </a:prstGeom>
        </p:spPr>
      </p:pic>
      <p:sp>
        <p:nvSpPr>
          <p:cNvPr id="18" name="Text 13"/>
          <p:cNvSpPr txBox="1"/>
          <p:nvPr/>
        </p:nvSpPr>
        <p:spPr>
          <a:xfrm>
            <a:off x="6095848" y="3383280"/>
            <a:ext cx="2682164" cy="731520"/>
          </a:xfrm>
          <a:prstGeom prst="rect">
            <a:avLst/>
          </a:prstGeom>
          <a:noFill/>
          <a:ln/>
        </p:spPr>
        <p:txBody>
          <a:bodyPr wrap="square" lIns="0" tIns="0" rIns="0" bIns="0" rtlCol="0" anchor="ctr"/>
          <a:lstStyle/>
          <a:p>
            <a:pPr algn="ctr" indent="0" marL="0">
              <a:buNone/>
            </a:pPr>
            <a:r>
              <a:rPr lang="en-US" sz="2200" b="1" dirty="0">
                <a:solidFill>
                  <a:srgbClr val="EDEDED"/>
                </a:solidFill>
                <a:latin typeface="Arial Black" pitchFamily="34" charset="0"/>
                <a:ea typeface="Arial Black" pitchFamily="34" charset="-122"/>
                <a:cs typeface="Arial Black" pitchFamily="34" charset="-120"/>
              </a:rPr>
              <a:t>Trust.</a:t>
            </a:r>
            <a:endParaRPr lang="en-US" sz="2200" dirty="0"/>
          </a:p>
        </p:txBody>
      </p:sp>
      <p:sp>
        <p:nvSpPr>
          <p:cNvPr id="19" name="Shape 14"/>
          <p:cNvSpPr/>
          <p:nvPr/>
        </p:nvSpPr>
        <p:spPr>
          <a:xfrm>
            <a:off x="9524733" y="1965960"/>
            <a:ext cx="1188720" cy="1188720"/>
          </a:xfrm>
          <a:prstGeom prst="ellipse">
            <a:avLst/>
          </a:prstGeom>
          <a:solidFill>
            <a:srgbClr val="151515"/>
          </a:solidFill>
          <a:ln w="19050">
            <a:solidFill>
              <a:srgbClr val="A6192E"/>
            </a:solidFill>
            <a:prstDash val="solid"/>
          </a:ln>
        </p:spPr>
      </p:sp>
      <p:pic>
        <p:nvPicPr>
          <p:cNvPr id="20" name="Image 3" descr="preencoded.png">    </p:cNvPr>
          <p:cNvPicPr>
            <a:picLocks noChangeAspect="1"/>
          </p:cNvPicPr>
          <p:nvPr/>
        </p:nvPicPr>
        <p:blipFill>
          <a:blip r:embed="rId4"/>
          <a:stretch>
            <a:fillRect/>
          </a:stretch>
        </p:blipFill>
        <p:spPr>
          <a:xfrm>
            <a:off x="9753333" y="2194560"/>
            <a:ext cx="731520" cy="731520"/>
          </a:xfrm>
          <a:prstGeom prst="rect">
            <a:avLst/>
          </a:prstGeom>
        </p:spPr>
      </p:pic>
      <p:sp>
        <p:nvSpPr>
          <p:cNvPr id="21" name="Text 15"/>
          <p:cNvSpPr txBox="1"/>
          <p:nvPr/>
        </p:nvSpPr>
        <p:spPr>
          <a:xfrm>
            <a:off x="8778011" y="3383280"/>
            <a:ext cx="2682164" cy="731520"/>
          </a:xfrm>
          <a:prstGeom prst="rect">
            <a:avLst/>
          </a:prstGeom>
          <a:noFill/>
          <a:ln/>
        </p:spPr>
        <p:txBody>
          <a:bodyPr wrap="square" lIns="0" tIns="0" rIns="0" bIns="0" rtlCol="0" anchor="ctr"/>
          <a:lstStyle/>
          <a:p>
            <a:pPr algn="ctr" indent="0" marL="0">
              <a:buNone/>
            </a:pPr>
            <a:r>
              <a:rPr lang="en-US" sz="2200" b="1" dirty="0">
                <a:solidFill>
                  <a:srgbClr val="EDEDED"/>
                </a:solidFill>
                <a:latin typeface="Arial Black" pitchFamily="34" charset="0"/>
                <a:ea typeface="Arial Black" pitchFamily="34" charset="-122"/>
                <a:cs typeface="Arial Black" pitchFamily="34" charset="-120"/>
              </a:rPr>
              <a:t>Presence.</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320040" y="320040"/>
            <a:ext cx="320040" cy="0"/>
          </a:xfrm>
          <a:prstGeom prst="line">
            <a:avLst/>
          </a:prstGeom>
          <a:noFill/>
          <a:ln w="19050">
            <a:solidFill>
              <a:srgbClr val="A6192E"/>
            </a:solidFill>
            <a:prstDash val="solid"/>
          </a:ln>
        </p:spPr>
      </p:sp>
      <p:sp>
        <p:nvSpPr>
          <p:cNvPr id="3" name="Shape 1"/>
          <p:cNvSpPr/>
          <p:nvPr/>
        </p:nvSpPr>
        <p:spPr>
          <a:xfrm>
            <a:off x="320040" y="320040"/>
            <a:ext cx="0" cy="320040"/>
          </a:xfrm>
          <a:prstGeom prst="line">
            <a:avLst/>
          </a:prstGeom>
          <a:noFill/>
          <a:ln w="19050">
            <a:solidFill>
              <a:srgbClr val="A6192E"/>
            </a:solidFill>
            <a:prstDash val="solid"/>
          </a:ln>
        </p:spPr>
      </p:sp>
      <p:sp>
        <p:nvSpPr>
          <p:cNvPr id="4" name="Shape 2"/>
          <p:cNvSpPr/>
          <p:nvPr/>
        </p:nvSpPr>
        <p:spPr>
          <a:xfrm>
            <a:off x="11871655" y="320040"/>
            <a:ext cx="-320040" cy="0"/>
          </a:xfrm>
          <a:prstGeom prst="line">
            <a:avLst/>
          </a:prstGeom>
          <a:noFill/>
          <a:ln w="19050">
            <a:solidFill>
              <a:srgbClr val="A6192E"/>
            </a:solidFill>
            <a:prstDash val="solid"/>
          </a:ln>
        </p:spPr>
      </p:sp>
      <p:sp>
        <p:nvSpPr>
          <p:cNvPr id="5" name="Shape 3"/>
          <p:cNvSpPr/>
          <p:nvPr/>
        </p:nvSpPr>
        <p:spPr>
          <a:xfrm>
            <a:off x="11871655" y="320040"/>
            <a:ext cx="0" cy="320040"/>
          </a:xfrm>
          <a:prstGeom prst="line">
            <a:avLst/>
          </a:prstGeom>
          <a:noFill/>
          <a:ln w="19050">
            <a:solidFill>
              <a:srgbClr val="A6192E"/>
            </a:solidFill>
            <a:prstDash val="solid"/>
          </a:ln>
        </p:spPr>
      </p:sp>
      <p:sp>
        <p:nvSpPr>
          <p:cNvPr id="6" name="Shape 4"/>
          <p:cNvSpPr/>
          <p:nvPr/>
        </p:nvSpPr>
        <p:spPr>
          <a:xfrm>
            <a:off x="320040" y="6537960"/>
            <a:ext cx="320040" cy="0"/>
          </a:xfrm>
          <a:prstGeom prst="line">
            <a:avLst/>
          </a:prstGeom>
          <a:noFill/>
          <a:ln w="19050">
            <a:solidFill>
              <a:srgbClr val="A6192E"/>
            </a:solidFill>
            <a:prstDash val="solid"/>
          </a:ln>
        </p:spPr>
      </p:sp>
      <p:sp>
        <p:nvSpPr>
          <p:cNvPr id="7" name="Shape 5"/>
          <p:cNvSpPr/>
          <p:nvPr/>
        </p:nvSpPr>
        <p:spPr>
          <a:xfrm>
            <a:off x="320040" y="6537960"/>
            <a:ext cx="0" cy="-320040"/>
          </a:xfrm>
          <a:prstGeom prst="line">
            <a:avLst/>
          </a:prstGeom>
          <a:noFill/>
          <a:ln w="19050">
            <a:solidFill>
              <a:srgbClr val="A6192E"/>
            </a:solidFill>
            <a:prstDash val="solid"/>
          </a:ln>
        </p:spPr>
      </p:sp>
      <p:sp>
        <p:nvSpPr>
          <p:cNvPr id="8" name="Shape 6"/>
          <p:cNvSpPr/>
          <p:nvPr/>
        </p:nvSpPr>
        <p:spPr>
          <a:xfrm>
            <a:off x="11871655" y="6537960"/>
            <a:ext cx="-320040" cy="0"/>
          </a:xfrm>
          <a:prstGeom prst="line">
            <a:avLst/>
          </a:prstGeom>
          <a:noFill/>
          <a:ln w="19050">
            <a:solidFill>
              <a:srgbClr val="A6192E"/>
            </a:solidFill>
            <a:prstDash val="solid"/>
          </a:ln>
        </p:spPr>
      </p:sp>
      <p:sp>
        <p:nvSpPr>
          <p:cNvPr id="9" name="Shape 7"/>
          <p:cNvSpPr/>
          <p:nvPr/>
        </p:nvSpPr>
        <p:spPr>
          <a:xfrm>
            <a:off x="11871655" y="6537960"/>
            <a:ext cx="0" cy="-320040"/>
          </a:xfrm>
          <a:prstGeom prst="line">
            <a:avLst/>
          </a:prstGeom>
          <a:noFill/>
          <a:ln w="19050">
            <a:solidFill>
              <a:srgbClr val="A6192E"/>
            </a:solidFill>
            <a:prstDash val="solid"/>
          </a:ln>
        </p:spPr>
      </p:sp>
      <p:sp>
        <p:nvSpPr>
          <p:cNvPr id="10" name="Text 8"/>
          <p:cNvSpPr txBox="1"/>
          <p:nvPr/>
        </p:nvSpPr>
        <p:spPr>
          <a:xfrm>
            <a:off x="0" y="685800"/>
            <a:ext cx="12191695" cy="914400"/>
          </a:xfrm>
          <a:prstGeom prst="rect">
            <a:avLst/>
          </a:prstGeom>
          <a:noFill/>
          <a:ln/>
        </p:spPr>
        <p:txBody>
          <a:bodyPr wrap="square" lIns="0" tIns="0" rIns="0" bIns="0" rtlCol="0" anchor="ctr"/>
          <a:lstStyle/>
          <a:p>
            <a:pPr algn="ctr" indent="0" marL="0">
              <a:buNone/>
            </a:pPr>
            <a:r>
              <a:rPr lang="en-US" sz="4800" b="1" dirty="0">
                <a:solidFill>
                  <a:srgbClr val="EDEDED"/>
                </a:solidFill>
                <a:latin typeface="Arial Black" pitchFamily="34" charset="0"/>
                <a:ea typeface="Arial Black" pitchFamily="34" charset="-122"/>
                <a:cs typeface="Arial Black" pitchFamily="34" charset="-120"/>
              </a:rPr>
              <a:t>Pick your fight.</a:t>
            </a:r>
            <a:endParaRPr lang="en-US" sz="4800" dirty="0"/>
          </a:p>
        </p:txBody>
      </p:sp>
      <p:sp>
        <p:nvSpPr>
          <p:cNvPr id="11" name="Shape 9"/>
          <p:cNvSpPr/>
          <p:nvPr/>
        </p:nvSpPr>
        <p:spPr>
          <a:xfrm>
            <a:off x="736549" y="2651760"/>
            <a:ext cx="1371600" cy="1371600"/>
          </a:xfrm>
          <a:prstGeom prst="ellipse">
            <a:avLst/>
          </a:prstGeom>
          <a:solidFill>
            <a:srgbClr val="151515"/>
          </a:solidFill>
          <a:ln w="19050">
            <a:solidFill>
              <a:srgbClr val="A6192E"/>
            </a:solidFill>
            <a:prstDash val="solid"/>
          </a:ln>
        </p:spPr>
      </p:sp>
      <p:pic>
        <p:nvPicPr>
          <p:cNvPr id="12" name="Image 0" descr="preencoded.png">    </p:cNvPr>
          <p:cNvPicPr>
            <a:picLocks noChangeAspect="1"/>
          </p:cNvPicPr>
          <p:nvPr/>
        </p:nvPicPr>
        <p:blipFill>
          <a:blip r:embed="rId1"/>
          <a:stretch>
            <a:fillRect/>
          </a:stretch>
        </p:blipFill>
        <p:spPr>
          <a:xfrm>
            <a:off x="1010869" y="2926080"/>
            <a:ext cx="822960" cy="822960"/>
          </a:xfrm>
          <a:prstGeom prst="rect">
            <a:avLst/>
          </a:prstGeom>
        </p:spPr>
      </p:pic>
      <p:sp>
        <p:nvSpPr>
          <p:cNvPr id="13" name="Shape 10"/>
          <p:cNvSpPr/>
          <p:nvPr/>
        </p:nvSpPr>
        <p:spPr>
          <a:xfrm>
            <a:off x="3073298" y="2651760"/>
            <a:ext cx="1371600" cy="1371600"/>
          </a:xfrm>
          <a:prstGeom prst="ellipse">
            <a:avLst/>
          </a:prstGeom>
          <a:solidFill>
            <a:srgbClr val="151515"/>
          </a:solidFill>
          <a:ln w="19050">
            <a:solidFill>
              <a:srgbClr val="A6192E"/>
            </a:solidFill>
            <a:prstDash val="solid"/>
          </a:ln>
        </p:spPr>
      </p:sp>
      <p:pic>
        <p:nvPicPr>
          <p:cNvPr id="14" name="Image 1" descr="preencoded.png">    </p:cNvPr>
          <p:cNvPicPr>
            <a:picLocks noChangeAspect="1"/>
          </p:cNvPicPr>
          <p:nvPr/>
        </p:nvPicPr>
        <p:blipFill>
          <a:blip r:embed="rId2"/>
          <a:stretch>
            <a:fillRect/>
          </a:stretch>
        </p:blipFill>
        <p:spPr>
          <a:xfrm>
            <a:off x="3347618" y="2926080"/>
            <a:ext cx="822960" cy="822960"/>
          </a:xfrm>
          <a:prstGeom prst="rect">
            <a:avLst/>
          </a:prstGeom>
        </p:spPr>
      </p:pic>
      <p:sp>
        <p:nvSpPr>
          <p:cNvPr id="15" name="Shape 11"/>
          <p:cNvSpPr/>
          <p:nvPr/>
        </p:nvSpPr>
        <p:spPr>
          <a:xfrm>
            <a:off x="5410048" y="2651760"/>
            <a:ext cx="1371600" cy="1371600"/>
          </a:xfrm>
          <a:prstGeom prst="ellipse">
            <a:avLst/>
          </a:prstGeom>
          <a:solidFill>
            <a:srgbClr val="151515"/>
          </a:solidFill>
          <a:ln w="19050">
            <a:solidFill>
              <a:srgbClr val="A6192E"/>
            </a:solidFill>
            <a:prstDash val="solid"/>
          </a:ln>
        </p:spPr>
      </p:sp>
      <p:pic>
        <p:nvPicPr>
          <p:cNvPr id="16" name="Image 2" descr="preencoded.png">    </p:cNvPr>
          <p:cNvPicPr>
            <a:picLocks noChangeAspect="1"/>
          </p:cNvPicPr>
          <p:nvPr/>
        </p:nvPicPr>
        <p:blipFill>
          <a:blip r:embed="rId3"/>
          <a:stretch>
            <a:fillRect/>
          </a:stretch>
        </p:blipFill>
        <p:spPr>
          <a:xfrm>
            <a:off x="5684368" y="2926080"/>
            <a:ext cx="822960" cy="822960"/>
          </a:xfrm>
          <a:prstGeom prst="rect">
            <a:avLst/>
          </a:prstGeom>
        </p:spPr>
      </p:pic>
      <p:sp>
        <p:nvSpPr>
          <p:cNvPr id="17" name="Shape 12"/>
          <p:cNvSpPr/>
          <p:nvPr/>
        </p:nvSpPr>
        <p:spPr>
          <a:xfrm>
            <a:off x="7746797" y="2651760"/>
            <a:ext cx="1371600" cy="1371600"/>
          </a:xfrm>
          <a:prstGeom prst="ellipse">
            <a:avLst/>
          </a:prstGeom>
          <a:solidFill>
            <a:srgbClr val="151515"/>
          </a:solidFill>
          <a:ln w="19050">
            <a:solidFill>
              <a:srgbClr val="A6192E"/>
            </a:solidFill>
            <a:prstDash val="solid"/>
          </a:ln>
        </p:spPr>
      </p:sp>
      <p:pic>
        <p:nvPicPr>
          <p:cNvPr id="18" name="Image 3" descr="preencoded.png">    </p:cNvPr>
          <p:cNvPicPr>
            <a:picLocks noChangeAspect="1"/>
          </p:cNvPicPr>
          <p:nvPr/>
        </p:nvPicPr>
        <p:blipFill>
          <a:blip r:embed="rId4"/>
          <a:stretch>
            <a:fillRect/>
          </a:stretch>
        </p:blipFill>
        <p:spPr>
          <a:xfrm>
            <a:off x="8021117" y="2926080"/>
            <a:ext cx="822960" cy="822960"/>
          </a:xfrm>
          <a:prstGeom prst="rect">
            <a:avLst/>
          </a:prstGeom>
        </p:spPr>
      </p:pic>
      <p:sp>
        <p:nvSpPr>
          <p:cNvPr id="19" name="Shape 13"/>
          <p:cNvSpPr/>
          <p:nvPr/>
        </p:nvSpPr>
        <p:spPr>
          <a:xfrm>
            <a:off x="10083546" y="2651760"/>
            <a:ext cx="1371600" cy="1371600"/>
          </a:xfrm>
          <a:prstGeom prst="ellipse">
            <a:avLst/>
          </a:prstGeom>
          <a:solidFill>
            <a:srgbClr val="151515"/>
          </a:solidFill>
          <a:ln w="19050">
            <a:solidFill>
              <a:srgbClr val="A6192E"/>
            </a:solidFill>
            <a:prstDash val="solid"/>
          </a:ln>
        </p:spPr>
      </p:sp>
      <p:pic>
        <p:nvPicPr>
          <p:cNvPr id="20" name="Image 4" descr="preencoded.png">    </p:cNvPr>
          <p:cNvPicPr>
            <a:picLocks noChangeAspect="1"/>
          </p:cNvPicPr>
          <p:nvPr/>
        </p:nvPicPr>
        <p:blipFill>
          <a:blip r:embed="rId5"/>
          <a:stretch>
            <a:fillRect/>
          </a:stretch>
        </p:blipFill>
        <p:spPr>
          <a:xfrm>
            <a:off x="10357866" y="2926080"/>
            <a:ext cx="822960" cy="822960"/>
          </a:xfrm>
          <a:prstGeom prst="rect">
            <a:avLst/>
          </a:prstGeom>
        </p:spPr>
      </p:pic>
      <p:sp>
        <p:nvSpPr>
          <p:cNvPr id="21" name="Text 14"/>
          <p:cNvSpPr txBox="1"/>
          <p:nvPr/>
        </p:nvSpPr>
        <p:spPr>
          <a:xfrm>
            <a:off x="457200" y="4663440"/>
            <a:ext cx="11277295" cy="457200"/>
          </a:xfrm>
          <a:prstGeom prst="rect">
            <a:avLst/>
          </a:prstGeom>
          <a:noFill/>
          <a:ln/>
        </p:spPr>
        <p:txBody>
          <a:bodyPr wrap="square" lIns="0" tIns="0" rIns="0" bIns="0" rtlCol="0" anchor="ctr"/>
          <a:lstStyle/>
          <a:p>
            <a:pPr algn="ctr" indent="0" marL="0">
              <a:buNone/>
            </a:pPr>
            <a:r>
              <a:rPr lang="en-US" sz="1200" spc="100" kern="0" dirty="0">
                <a:solidFill>
                  <a:srgbClr val="8A8A8A"/>
                </a:solidFill>
                <a:latin typeface="Calibri" pitchFamily="34" charset="0"/>
                <a:ea typeface="Calibri" pitchFamily="34" charset="-122"/>
                <a:cs typeface="Calibri" pitchFamily="34" charset="-120"/>
              </a:rPr>
              <a:t>ADVERSARIAL SEARCH   •   OPPONENT MODELING   •   NETWORKING   •   ENCRYPTION   •   FRONT END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320040" y="320040"/>
            <a:ext cx="320040" cy="0"/>
          </a:xfrm>
          <a:prstGeom prst="line">
            <a:avLst/>
          </a:prstGeom>
          <a:noFill/>
          <a:ln w="19050">
            <a:solidFill>
              <a:srgbClr val="A6192E"/>
            </a:solidFill>
            <a:prstDash val="solid"/>
          </a:ln>
        </p:spPr>
      </p:sp>
      <p:sp>
        <p:nvSpPr>
          <p:cNvPr id="3" name="Shape 1"/>
          <p:cNvSpPr/>
          <p:nvPr/>
        </p:nvSpPr>
        <p:spPr>
          <a:xfrm>
            <a:off x="320040" y="320040"/>
            <a:ext cx="0" cy="320040"/>
          </a:xfrm>
          <a:prstGeom prst="line">
            <a:avLst/>
          </a:prstGeom>
          <a:noFill/>
          <a:ln w="19050">
            <a:solidFill>
              <a:srgbClr val="A6192E"/>
            </a:solidFill>
            <a:prstDash val="solid"/>
          </a:ln>
        </p:spPr>
      </p:sp>
      <p:sp>
        <p:nvSpPr>
          <p:cNvPr id="4" name="Shape 2"/>
          <p:cNvSpPr/>
          <p:nvPr/>
        </p:nvSpPr>
        <p:spPr>
          <a:xfrm>
            <a:off x="11871655" y="320040"/>
            <a:ext cx="-320040" cy="0"/>
          </a:xfrm>
          <a:prstGeom prst="line">
            <a:avLst/>
          </a:prstGeom>
          <a:noFill/>
          <a:ln w="19050">
            <a:solidFill>
              <a:srgbClr val="A6192E"/>
            </a:solidFill>
            <a:prstDash val="solid"/>
          </a:ln>
        </p:spPr>
      </p:sp>
      <p:sp>
        <p:nvSpPr>
          <p:cNvPr id="5" name="Shape 3"/>
          <p:cNvSpPr/>
          <p:nvPr/>
        </p:nvSpPr>
        <p:spPr>
          <a:xfrm>
            <a:off x="11871655" y="320040"/>
            <a:ext cx="0" cy="320040"/>
          </a:xfrm>
          <a:prstGeom prst="line">
            <a:avLst/>
          </a:prstGeom>
          <a:noFill/>
          <a:ln w="19050">
            <a:solidFill>
              <a:srgbClr val="A6192E"/>
            </a:solidFill>
            <a:prstDash val="solid"/>
          </a:ln>
        </p:spPr>
      </p:sp>
      <p:sp>
        <p:nvSpPr>
          <p:cNvPr id="6" name="Shape 4"/>
          <p:cNvSpPr/>
          <p:nvPr/>
        </p:nvSpPr>
        <p:spPr>
          <a:xfrm>
            <a:off x="320040" y="6537960"/>
            <a:ext cx="320040" cy="0"/>
          </a:xfrm>
          <a:prstGeom prst="line">
            <a:avLst/>
          </a:prstGeom>
          <a:noFill/>
          <a:ln w="19050">
            <a:solidFill>
              <a:srgbClr val="A6192E"/>
            </a:solidFill>
            <a:prstDash val="solid"/>
          </a:ln>
        </p:spPr>
      </p:sp>
      <p:sp>
        <p:nvSpPr>
          <p:cNvPr id="7" name="Shape 5"/>
          <p:cNvSpPr/>
          <p:nvPr/>
        </p:nvSpPr>
        <p:spPr>
          <a:xfrm>
            <a:off x="320040" y="6537960"/>
            <a:ext cx="0" cy="-320040"/>
          </a:xfrm>
          <a:prstGeom prst="line">
            <a:avLst/>
          </a:prstGeom>
          <a:noFill/>
          <a:ln w="19050">
            <a:solidFill>
              <a:srgbClr val="A6192E"/>
            </a:solidFill>
            <a:prstDash val="solid"/>
          </a:ln>
        </p:spPr>
      </p:sp>
      <p:sp>
        <p:nvSpPr>
          <p:cNvPr id="8" name="Shape 6"/>
          <p:cNvSpPr/>
          <p:nvPr/>
        </p:nvSpPr>
        <p:spPr>
          <a:xfrm>
            <a:off x="11871655" y="6537960"/>
            <a:ext cx="-320040" cy="0"/>
          </a:xfrm>
          <a:prstGeom prst="line">
            <a:avLst/>
          </a:prstGeom>
          <a:noFill/>
          <a:ln w="19050">
            <a:solidFill>
              <a:srgbClr val="A6192E"/>
            </a:solidFill>
            <a:prstDash val="solid"/>
          </a:ln>
        </p:spPr>
      </p:sp>
      <p:sp>
        <p:nvSpPr>
          <p:cNvPr id="9" name="Shape 7"/>
          <p:cNvSpPr/>
          <p:nvPr/>
        </p:nvSpPr>
        <p:spPr>
          <a:xfrm>
            <a:off x="11871655" y="6537960"/>
            <a:ext cx="0" cy="-320040"/>
          </a:xfrm>
          <a:prstGeom prst="line">
            <a:avLst/>
          </a:prstGeom>
          <a:noFill/>
          <a:ln w="19050">
            <a:solidFill>
              <a:srgbClr val="A6192E"/>
            </a:solidFill>
            <a:prstDash val="solid"/>
          </a:ln>
        </p:spPr>
      </p:sp>
      <p:sp>
        <p:nvSpPr>
          <p:cNvPr id="10" name="Text 8"/>
          <p:cNvSpPr txBox="1"/>
          <p:nvPr/>
        </p:nvSpPr>
        <p:spPr>
          <a:xfrm>
            <a:off x="0" y="1828800"/>
            <a:ext cx="12191695" cy="2926080"/>
          </a:xfrm>
          <a:prstGeom prst="rect">
            <a:avLst/>
          </a:prstGeom>
          <a:noFill/>
          <a:ln/>
        </p:spPr>
        <p:txBody>
          <a:bodyPr wrap="square" lIns="0" tIns="0" rIns="0" bIns="0" rtlCol="0" anchor="ctr"/>
          <a:lstStyle/>
          <a:p>
            <a:pPr algn="ctr" indent="0" marL="0">
              <a:lnSpc>
                <a:spcPct val="100000"/>
              </a:lnSpc>
              <a:buNone/>
            </a:pPr>
            <a:r>
              <a:rPr lang="en-US" sz="8600" b="1" dirty="0">
                <a:solidFill>
                  <a:srgbClr val="A6192E"/>
                </a:solidFill>
                <a:latin typeface="Arial Black" pitchFamily="34" charset="0"/>
                <a:ea typeface="Arial Black" pitchFamily="34" charset="-122"/>
                <a:cs typeface="Arial Black" pitchFamily="34" charset="-120"/>
              </a:rPr>
              <a:t>NO FUCKING</a:t>
            </a:r>
            <a:endParaRPr lang="en-US" sz="8600" dirty="0"/>
          </a:p>
          <a:p>
            <a:pPr algn="ctr" indent="0" marL="0">
              <a:lnSpc>
                <a:spcPct val="100000"/>
              </a:lnSpc>
              <a:buNone/>
            </a:pPr>
            <a:r>
              <a:rPr lang="en-US" sz="8600" b="1" dirty="0">
                <a:solidFill>
                  <a:srgbClr val="A6192E"/>
                </a:solidFill>
                <a:latin typeface="Arial Black" pitchFamily="34" charset="0"/>
                <a:ea typeface="Arial Black" pitchFamily="34" charset="-122"/>
                <a:cs typeface="Arial Black" pitchFamily="34" charset="-120"/>
              </a:rPr>
              <a:t>SLACK.</a:t>
            </a:r>
            <a:endParaRPr lang="en-US" sz="8600" dirty="0"/>
          </a:p>
        </p:txBody>
      </p:sp>
      <p:sp>
        <p:nvSpPr>
          <p:cNvPr id="11" name="Text 9"/>
          <p:cNvSpPr txBox="1"/>
          <p:nvPr/>
        </p:nvSpPr>
        <p:spPr>
          <a:xfrm>
            <a:off x="0" y="4892040"/>
            <a:ext cx="12191695" cy="457200"/>
          </a:xfrm>
          <a:prstGeom prst="rect">
            <a:avLst/>
          </a:prstGeom>
          <a:noFill/>
          <a:ln/>
        </p:spPr>
        <p:txBody>
          <a:bodyPr wrap="square" lIns="0" tIns="0" rIns="0" bIns="0" rtlCol="0" anchor="ctr"/>
          <a:lstStyle/>
          <a:p>
            <a:pPr algn="ctr" indent="0" marL="0">
              <a:buNone/>
            </a:pPr>
            <a:r>
              <a:rPr lang="en-US" sz="1400" i="1" dirty="0">
                <a:solidFill>
                  <a:srgbClr val="8A8A8A"/>
                </a:solidFill>
                <a:latin typeface="Calibri" pitchFamily="34" charset="0"/>
                <a:ea typeface="Calibri" pitchFamily="34" charset="-122"/>
                <a:cs typeface="Calibri" pitchFamily="34" charset="-120"/>
              </a:rPr>
              <a:t>— COL. DAVID HACKWORTH</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320040" y="320040"/>
            <a:ext cx="320040" cy="0"/>
          </a:xfrm>
          <a:prstGeom prst="line">
            <a:avLst/>
          </a:prstGeom>
          <a:noFill/>
          <a:ln w="19050">
            <a:solidFill>
              <a:srgbClr val="A6192E"/>
            </a:solidFill>
            <a:prstDash val="solid"/>
          </a:ln>
        </p:spPr>
      </p:sp>
      <p:sp>
        <p:nvSpPr>
          <p:cNvPr id="3" name="Shape 1"/>
          <p:cNvSpPr/>
          <p:nvPr/>
        </p:nvSpPr>
        <p:spPr>
          <a:xfrm>
            <a:off x="320040" y="320040"/>
            <a:ext cx="0" cy="320040"/>
          </a:xfrm>
          <a:prstGeom prst="line">
            <a:avLst/>
          </a:prstGeom>
          <a:noFill/>
          <a:ln w="19050">
            <a:solidFill>
              <a:srgbClr val="A6192E"/>
            </a:solidFill>
            <a:prstDash val="solid"/>
          </a:ln>
        </p:spPr>
      </p:sp>
      <p:sp>
        <p:nvSpPr>
          <p:cNvPr id="4" name="Shape 2"/>
          <p:cNvSpPr/>
          <p:nvPr/>
        </p:nvSpPr>
        <p:spPr>
          <a:xfrm>
            <a:off x="11871655" y="320040"/>
            <a:ext cx="-320040" cy="0"/>
          </a:xfrm>
          <a:prstGeom prst="line">
            <a:avLst/>
          </a:prstGeom>
          <a:noFill/>
          <a:ln w="19050">
            <a:solidFill>
              <a:srgbClr val="A6192E"/>
            </a:solidFill>
            <a:prstDash val="solid"/>
          </a:ln>
        </p:spPr>
      </p:sp>
      <p:sp>
        <p:nvSpPr>
          <p:cNvPr id="5" name="Shape 3"/>
          <p:cNvSpPr/>
          <p:nvPr/>
        </p:nvSpPr>
        <p:spPr>
          <a:xfrm>
            <a:off x="11871655" y="320040"/>
            <a:ext cx="0" cy="320040"/>
          </a:xfrm>
          <a:prstGeom prst="line">
            <a:avLst/>
          </a:prstGeom>
          <a:noFill/>
          <a:ln w="19050">
            <a:solidFill>
              <a:srgbClr val="A6192E"/>
            </a:solidFill>
            <a:prstDash val="solid"/>
          </a:ln>
        </p:spPr>
      </p:sp>
      <p:sp>
        <p:nvSpPr>
          <p:cNvPr id="6" name="Shape 4"/>
          <p:cNvSpPr/>
          <p:nvPr/>
        </p:nvSpPr>
        <p:spPr>
          <a:xfrm>
            <a:off x="320040" y="6537960"/>
            <a:ext cx="320040" cy="0"/>
          </a:xfrm>
          <a:prstGeom prst="line">
            <a:avLst/>
          </a:prstGeom>
          <a:noFill/>
          <a:ln w="19050">
            <a:solidFill>
              <a:srgbClr val="A6192E"/>
            </a:solidFill>
            <a:prstDash val="solid"/>
          </a:ln>
        </p:spPr>
      </p:sp>
      <p:sp>
        <p:nvSpPr>
          <p:cNvPr id="7" name="Shape 5"/>
          <p:cNvSpPr/>
          <p:nvPr/>
        </p:nvSpPr>
        <p:spPr>
          <a:xfrm>
            <a:off x="320040" y="6537960"/>
            <a:ext cx="0" cy="-320040"/>
          </a:xfrm>
          <a:prstGeom prst="line">
            <a:avLst/>
          </a:prstGeom>
          <a:noFill/>
          <a:ln w="19050">
            <a:solidFill>
              <a:srgbClr val="A6192E"/>
            </a:solidFill>
            <a:prstDash val="solid"/>
          </a:ln>
        </p:spPr>
      </p:sp>
      <p:sp>
        <p:nvSpPr>
          <p:cNvPr id="8" name="Shape 6"/>
          <p:cNvSpPr/>
          <p:nvPr/>
        </p:nvSpPr>
        <p:spPr>
          <a:xfrm>
            <a:off x="11871655" y="6537960"/>
            <a:ext cx="-320040" cy="0"/>
          </a:xfrm>
          <a:prstGeom prst="line">
            <a:avLst/>
          </a:prstGeom>
          <a:noFill/>
          <a:ln w="19050">
            <a:solidFill>
              <a:srgbClr val="A6192E"/>
            </a:solidFill>
            <a:prstDash val="solid"/>
          </a:ln>
        </p:spPr>
      </p:sp>
      <p:sp>
        <p:nvSpPr>
          <p:cNvPr id="9" name="Shape 7"/>
          <p:cNvSpPr/>
          <p:nvPr/>
        </p:nvSpPr>
        <p:spPr>
          <a:xfrm>
            <a:off x="11871655" y="6537960"/>
            <a:ext cx="0" cy="-320040"/>
          </a:xfrm>
          <a:prstGeom prst="line">
            <a:avLst/>
          </a:prstGeom>
          <a:noFill/>
          <a:ln w="19050">
            <a:solidFill>
              <a:srgbClr val="A6192E"/>
            </a:solidFill>
            <a:prstDash val="solid"/>
          </a:ln>
        </p:spPr>
      </p:sp>
      <p:pic>
        <p:nvPicPr>
          <p:cNvPr id="10" name="Image 0" descr="preencoded.png">    </p:cNvPr>
          <p:cNvPicPr>
            <a:picLocks noChangeAspect="1"/>
          </p:cNvPicPr>
          <p:nvPr/>
        </p:nvPicPr>
        <p:blipFill>
          <a:blip r:embed="rId1"/>
          <a:stretch>
            <a:fillRect/>
          </a:stretch>
        </p:blipFill>
        <p:spPr>
          <a:xfrm>
            <a:off x="5592928" y="1280160"/>
            <a:ext cx="1005840" cy="1005840"/>
          </a:xfrm>
          <a:prstGeom prst="rect">
            <a:avLst/>
          </a:prstGeom>
        </p:spPr>
      </p:pic>
      <p:sp>
        <p:nvSpPr>
          <p:cNvPr id="11" name="Text 8"/>
          <p:cNvSpPr txBox="1"/>
          <p:nvPr/>
        </p:nvSpPr>
        <p:spPr>
          <a:xfrm>
            <a:off x="0" y="2606040"/>
            <a:ext cx="12191695" cy="1188720"/>
          </a:xfrm>
          <a:prstGeom prst="rect">
            <a:avLst/>
          </a:prstGeom>
          <a:noFill/>
          <a:ln/>
        </p:spPr>
        <p:txBody>
          <a:bodyPr wrap="square" lIns="0" tIns="0" rIns="0" bIns="0" rtlCol="0" anchor="ctr"/>
          <a:lstStyle/>
          <a:p>
            <a:pPr algn="ctr" indent="0" marL="0">
              <a:buNone/>
            </a:pPr>
            <a:r>
              <a:rPr lang="en-US" sz="7200" b="1" dirty="0">
                <a:solidFill>
                  <a:srgbClr val="EDEDED"/>
                </a:solidFill>
                <a:latin typeface="Arial Black" pitchFamily="34" charset="0"/>
                <a:ea typeface="Arial Black" pitchFamily="34" charset="-122"/>
                <a:cs typeface="Arial Black" pitchFamily="34" charset="-120"/>
              </a:rPr>
              <a:t>Sign up.</a:t>
            </a:r>
            <a:endParaRPr lang="en-US" sz="7200" dirty="0"/>
          </a:p>
        </p:txBody>
      </p:sp>
      <p:sp>
        <p:nvSpPr>
          <p:cNvPr id="12" name="Text 9"/>
          <p:cNvSpPr txBox="1"/>
          <p:nvPr/>
        </p:nvSpPr>
        <p:spPr>
          <a:xfrm>
            <a:off x="0" y="6035040"/>
            <a:ext cx="12191695" cy="457200"/>
          </a:xfrm>
          <a:prstGeom prst="rect">
            <a:avLst/>
          </a:prstGeom>
          <a:noFill/>
          <a:ln/>
        </p:spPr>
        <p:txBody>
          <a:bodyPr wrap="square" lIns="0" tIns="0" rIns="0" bIns="0" rtlCol="0" anchor="ctr"/>
          <a:lstStyle/>
          <a:p>
            <a:pPr algn="ctr" indent="0" marL="0">
              <a:buNone/>
            </a:pPr>
            <a:r>
              <a:rPr lang="en-US" sz="1300" spc="400" kern="0" dirty="0">
                <a:solidFill>
                  <a:srgbClr val="8A8A8A"/>
                </a:solidFill>
                <a:latin typeface="Calibri" pitchFamily="34" charset="0"/>
                <a:ea typeface="Calibri" pitchFamily="34" charset="-122"/>
                <a:cs typeface="Calibri" pitchFamily="34" charset="-120"/>
              </a:rPr>
              <a:t>DREAD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2026-09-08T23:57:01Z</dcterms:created>
  <dcterms:modified xsi:type="dcterms:W3CDTF">2026-09-08T23:57:01Z</dcterms:modified>
</cp:coreProperties>
</file>